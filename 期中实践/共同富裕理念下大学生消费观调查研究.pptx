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3152" cy="411480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45720"/>
          </a:xfrm>
          <a:prstGeom prst="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共同富裕理念下大学生消费观的调查研究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C040"/>
                </a:solidFill>
                <a:latin typeface="微软雅黑"/>
              </a:rPr>
              <a:t>马克思主义基本原理  期中实践调研报告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10515600" cy="27432"/>
          </a:xfrm>
          <a:prstGeom prst="rect">
            <a:avLst/>
          </a:prstGeom>
          <a:solidFill>
            <a:srgbClr val="55657A"/>
          </a:solidFill>
          <a:ln>
            <a:solidFill>
              <a:srgbClr val="556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微软雅黑"/>
              </a:rPr>
              <a:t>小组成员：李明  王芳          指导教师：张老师          2025年4月</a:t>
            </a:r>
          </a:p>
        </p:txBody>
      </p:sp>
      <p:sp>
        <p:nvSpPr>
          <p:cNvPr id="9" name="Oval 8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0" y="5303520"/>
            <a:ext cx="914400" cy="9144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438912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02920" cy="502920"/>
          </a:xfrm>
          <a:prstGeom prst="round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选题原因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556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时代背景 · 现实问题 · 理论意义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2148840"/>
            <a:ext cx="10058400" cy="9144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292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研究对象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24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调查范围 · 样本特征 · 典型性分析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3017520"/>
            <a:ext cx="10058400" cy="9144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3154680"/>
            <a:ext cx="502920" cy="502920"/>
          </a:xfrm>
          <a:prstGeom prst="round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研究方法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4930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问卷调查 · 文献研究 · 数据分析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3886200"/>
            <a:ext cx="10058400" cy="9144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23359"/>
            <a:ext cx="50292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233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77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研究经过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36168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前期准备 · 发放回收 · 整理分析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4754879"/>
            <a:ext cx="10058400" cy="9144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892040"/>
            <a:ext cx="502920" cy="502920"/>
          </a:xfrm>
          <a:prstGeom prst="round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892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分析与结论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2303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消费结构 · 心理行为 · 理念认知 · 建议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4440" y="5623560"/>
            <a:ext cx="10058400" cy="9144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01  选题原因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6576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109728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时代背景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  <a:latin typeface="微软雅黑"/>
              </a:rPr>
              <a:t>党的二十大报告明确提出共同富裕是中国式现代化的重要特征，消费文化建设是实现这一目标的重要组成部分。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6576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10972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现实问题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  <a:latin typeface="微软雅黑"/>
              </a:rPr>
              <a:t>花呗、白条等超前消费工具在大学生中广泛普及，校园贷问题频发；攀比消费现象与共同富裕理念相悖。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6576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657600" cy="109728"/>
          </a:xfrm>
          <a:prstGeom prst="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理论意义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860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A"/>
                </a:solidFill>
                <a:latin typeface="微软雅黑"/>
              </a:rPr>
              <a:t>马克思主义政治经济学揭示消费与生产的辩证关系，研究大学生消费观有助于推进共同富裕目标的实现。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02  研究对象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调查概况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5720" cy="320040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00" b="0">
                <a:solidFill>
                  <a:srgbClr val="1A233A"/>
                </a:solidFill>
                <a:latin typeface="微软雅黑"/>
              </a:rPr>
              <a:t>调查对象：某综合性高校在校本科生（大一至大四）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1A233A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1A233A"/>
                </a:solidFill>
                <a:latin typeface="微软雅黑"/>
              </a:rPr>
              <a:t>有效问卷：120份（回收率 92.3%）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1A233A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1A233A"/>
                </a:solidFill>
                <a:latin typeface="微软雅黑"/>
              </a:rPr>
              <a:t>性别比例：男生 45%  / 女生 55%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1A233A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1A233A"/>
                </a:solidFill>
                <a:latin typeface="微软雅黑"/>
              </a:rPr>
              <a:t>生源地：城市 56.7%  / 农村及县城 43.3%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1A233A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1A233A"/>
                </a:solidFill>
                <a:latin typeface="微软雅黑"/>
              </a:rPr>
              <a:t>月均生活费：1000—2000元占 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A"/>
                </a:solidFill>
                <a:latin typeface="微软雅黑"/>
              </a:rPr>
              <a:t>年级分布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大一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965960"/>
            <a:ext cx="3348010" cy="347472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3210" y="19202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A"/>
                </a:solidFill>
                <a:latin typeface="微软雅黑"/>
              </a:rPr>
              <a:t>23.3%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大二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971800"/>
            <a:ext cx="3836561" cy="347472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1761" y="29260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A"/>
                </a:solidFill>
                <a:latin typeface="微软雅黑"/>
              </a:rPr>
              <a:t>26.7%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大三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3977640"/>
            <a:ext cx="4195789" cy="34747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10989" y="3931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A"/>
                </a:solidFill>
                <a:latin typeface="微软雅黑"/>
              </a:rPr>
              <a:t>29.2%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9377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大四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4983480"/>
            <a:ext cx="2988781" cy="347472"/>
          </a:xfrm>
          <a:prstGeom prst="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03981" y="49377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A"/>
                </a:solidFill>
                <a:latin typeface="微软雅黑"/>
              </a:rPr>
              <a:t>20.8%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03  研究方法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0" cy="27432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5029200"/>
          </a:xfrm>
          <a:prstGeom prst="rect">
            <a:avLst/>
          </a:prstGeom>
          <a:solidFill>
            <a:srgbClr val="25304A"/>
          </a:solidFill>
          <a:ln>
            <a:solidFill>
              <a:srgbClr val="25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73152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463040"/>
            <a:ext cx="731520" cy="731520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A2E"/>
                </a:solidFill>
                <a:latin typeface="微软雅黑"/>
              </a:rPr>
              <a:t>问卷调查法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· 设计32道题目（单选/多选/李克特量表）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· 涵盖消费结构、消费心理、共同富裕认知四维度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· 通过问卷星平台发放，有效问卷120份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657600" cy="5029200"/>
          </a:xfrm>
          <a:prstGeom prst="rect">
            <a:avLst/>
          </a:prstGeom>
          <a:solidFill>
            <a:srgbClr val="25304A"/>
          </a:solidFill>
          <a:ln>
            <a:solidFill>
              <a:srgbClr val="25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0" cy="73152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0720" y="1463040"/>
            <a:ext cx="731520" cy="7315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377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文献研究法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· 研读《资本论》《1844年经济学哲学手稿》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703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· 梳理习近平总书记关于共同富裕的重要论述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891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· 参考《思想理论教育》《中国青年研究》等期刊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3657600" cy="5029200"/>
          </a:xfrm>
          <a:prstGeom prst="rect">
            <a:avLst/>
          </a:prstGeom>
          <a:solidFill>
            <a:srgbClr val="25304A"/>
          </a:solidFill>
          <a:ln>
            <a:solidFill>
              <a:srgbClr val="25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280160"/>
            <a:ext cx="3657600" cy="73152"/>
          </a:xfrm>
          <a:prstGeom prst="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0" y="1463040"/>
            <a:ext cx="731520" cy="73152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77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C040"/>
                </a:solidFill>
                <a:latin typeface="微软雅黑"/>
              </a:rPr>
              <a:t>数据分析法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017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· 描述性统计分析：频率分布与集中趋势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703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· 交叉分析：背景特征与消费行为的关联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891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· 工具：SPSS 26.0 + Excel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04  研究经过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10515600" cy="4572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3063240"/>
            <a:ext cx="274320" cy="274320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微软雅黑"/>
              </a:rPr>
              <a:t>第1-2周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2834640"/>
            <a:ext cx="18288" cy="32004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软雅黑"/>
              </a:rPr>
              <a:t>前期准备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3931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  <a:latin typeface="微软雅黑"/>
              </a:rPr>
              <a:t>查阅文献、确定框架、设计问卷、预调查修改</a:t>
            </a:r>
          </a:p>
        </p:txBody>
      </p:sp>
      <p:sp>
        <p:nvSpPr>
          <p:cNvPr id="11" name="Oval 10"/>
          <p:cNvSpPr/>
          <p:nvPr/>
        </p:nvSpPr>
        <p:spPr>
          <a:xfrm>
            <a:off x="3246120" y="3063240"/>
            <a:ext cx="274320" cy="274320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微软雅黑"/>
              </a:rPr>
              <a:t>第3周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4136" y="2834640"/>
            <a:ext cx="18288" cy="32004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软雅黑"/>
              </a:rPr>
              <a:t>发放回收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31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  <a:latin typeface="微软雅黑"/>
              </a:rPr>
              <a:t>线上+线下发放，回收130份，筛选120份有效问卷</a:t>
            </a:r>
          </a:p>
        </p:txBody>
      </p:sp>
      <p:sp>
        <p:nvSpPr>
          <p:cNvPr id="16" name="Oval 15"/>
          <p:cNvSpPr/>
          <p:nvPr/>
        </p:nvSpPr>
        <p:spPr>
          <a:xfrm>
            <a:off x="5897880" y="3063240"/>
            <a:ext cx="274320" cy="274320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微软雅黑"/>
              </a:rPr>
              <a:t>第4周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25896" y="2834640"/>
            <a:ext cx="18288" cy="32004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软雅黑"/>
              </a:rPr>
              <a:t>数据分析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931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  <a:latin typeface="微软雅黑"/>
              </a:rPr>
              <a:t>SPSS统计分析，交叉分析，形成核心发现</a:t>
            </a:r>
          </a:p>
        </p:txBody>
      </p:sp>
      <p:sp>
        <p:nvSpPr>
          <p:cNvPr id="21" name="Oval 20"/>
          <p:cNvSpPr/>
          <p:nvPr/>
        </p:nvSpPr>
        <p:spPr>
          <a:xfrm>
            <a:off x="8549640" y="3063240"/>
            <a:ext cx="274320" cy="274320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微软雅黑"/>
              </a:rPr>
              <a:t>第5周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77656" y="2834640"/>
            <a:ext cx="18288" cy="32004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软雅黑"/>
              </a:rPr>
              <a:t>报告撰写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931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  <a:latin typeface="微软雅黑"/>
              </a:rPr>
              <a:t>分工合作，李明负责前三章，王芳负责后两章及摘要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05  分析与结论（一）消费结构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0" cy="27432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040"/>
                </a:solidFill>
                <a:latin typeface="微软雅黑"/>
              </a:rPr>
              <a:t>月均消费结构分布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餐饮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783080"/>
            <a:ext cx="4400550" cy="347472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37910" y="17373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3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学习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651759"/>
            <a:ext cx="2514600" cy="347472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60603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娱乐休闲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520440"/>
            <a:ext cx="2263140" cy="347472"/>
          </a:xfrm>
          <a:prstGeom prst="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500" y="3474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服装购物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4389120"/>
            <a:ext cx="1885950" cy="347472"/>
          </a:xfrm>
          <a:prstGeom prst="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3310" y="43434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7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交通通讯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5257799"/>
            <a:ext cx="1508760" cy="34747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521207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040"/>
                </a:solidFill>
                <a:latin typeface="微软雅黑"/>
              </a:rPr>
              <a:t>关键发现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1847088"/>
            <a:ext cx="201168" cy="201168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微软雅黑"/>
              </a:rPr>
              <a:t>23.3% 的学生曾使用超前消费工具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2670048"/>
            <a:ext cx="201168" cy="201168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微软雅黑"/>
              </a:rPr>
              <a:t>8.3% 存在逾期还款情况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3493008"/>
            <a:ext cx="201168" cy="201168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383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微软雅黑"/>
              </a:rPr>
              <a:t>超前消费主要用于电子产品（52%）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4315968"/>
            <a:ext cx="201168" cy="201168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微软雅黑"/>
              </a:rPr>
              <a:t>服装鞋帽（38%）和娱乐（25%）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5138928"/>
            <a:ext cx="201168" cy="201168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微软雅黑"/>
              </a:rPr>
              <a:t>与理性消费原则存在明显偏差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05  分析与结论（二）心理行为 &amp; 理念认知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  <a:latin typeface="微软雅黑"/>
              </a:rPr>
              <a:t>消费心理特征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03520" cy="36576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受同伴影响消费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066544"/>
            <a:ext cx="1588770" cy="292608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72050" y="20116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41.7%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品牌地位驱动购买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871216"/>
            <a:ext cx="1078230" cy="29260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1510" y="28163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28.3%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210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攀比心理消费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675888"/>
            <a:ext cx="571500" cy="292608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4780" y="36210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15.0%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256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冲动消费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480560"/>
            <a:ext cx="441960" cy="292608"/>
          </a:xfrm>
          <a:prstGeom prst="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5240" y="442569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11.6%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30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理性比价决策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5285232"/>
            <a:ext cx="2160270" cy="2926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3550" y="52303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56.7%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  <a:latin typeface="微软雅黑"/>
              </a:rPr>
              <a:t>共同富裕理念认知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28800"/>
            <a:ext cx="5303520" cy="36576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知晓共同富裕概念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2066544"/>
            <a:ext cx="1706270" cy="29260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16030" y="20116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93.3%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16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准确理解核心内涵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2871216"/>
            <a:ext cx="700430" cy="2926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10190" y="28163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38.3%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210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误解为平均分配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3675888"/>
            <a:ext cx="762609" cy="292608"/>
          </a:xfrm>
          <a:prstGeom prst="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72369" y="36210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41.7%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256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了解后更注重理性消费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4480560"/>
            <a:ext cx="1188720" cy="292608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0" y="442569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65.0%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303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支持绿色可持续消费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5285232"/>
            <a:ext cx="1311249" cy="29260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21009" y="52303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3A"/>
                </a:solidFill>
                <a:latin typeface="微软雅黑"/>
              </a:rPr>
              <a:t>71.7%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05  分析与结论（三）马克思主义视角解读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0" cy="27432"/>
          </a:xfrm>
          <a:prstGeom prst="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25304A"/>
          </a:solidFill>
          <a:ln w="1905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0C040"/>
                </a:solidFill>
                <a:latin typeface="微软雅黑"/>
              </a:rPr>
              <a:t>"异化劳动导致人与人的类本质相异化——异化消费使人沦为商品的奴隶，丧失了消费的本真意义。"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657A"/>
                </a:solidFill>
                <a:latin typeface="微软雅黑"/>
              </a:rPr>
              <a:t>——马克思《1844年经济学哲学手稿》（引申）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834640"/>
            <a:ext cx="3657600" cy="3474720"/>
          </a:xfrm>
          <a:prstGeom prst="roundRect">
            <a:avLst/>
          </a:prstGeom>
          <a:solidFill>
            <a:srgbClr val="25304A"/>
          </a:solidFill>
          <a:ln w="1905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3657600" cy="9144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2E"/>
                </a:solidFill>
                <a:latin typeface="微软雅黑"/>
              </a:rPr>
              <a:t>资本逻辑渗透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消费主义意识形态遮蔽商品使用价值，过度强调符号价值，消费行为异化为身份认同的表达。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834640"/>
            <a:ext cx="3657600" cy="3474720"/>
          </a:xfrm>
          <a:prstGeom prst="roundRect">
            <a:avLst/>
          </a:prstGeom>
          <a:solidFill>
            <a:srgbClr val="25304A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834640"/>
            <a:ext cx="3657600" cy="9144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  <a:latin typeface="微软雅黑"/>
              </a:rPr>
              <a:t>共同富裕的批判超越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566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共同富裕理念从根本上批判消费主义逻辑，要求回归消费本质——满足人民对美好生活的真实需要。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834640"/>
            <a:ext cx="3657600" cy="3474720"/>
          </a:xfrm>
          <a:prstGeom prst="roundRect">
            <a:avLst/>
          </a:prstGeom>
          <a:solidFill>
            <a:srgbClr val="25304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834640"/>
            <a:ext cx="3657600" cy="9144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微软雅黑"/>
              </a:rPr>
              <a:t>人的全面发展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566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引导大学生树立健康消费观，是推进中国式现代化、实现人的全面发展的内在要求。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A"/>
          </a:solidFill>
          <a:ln>
            <a:solidFill>
              <a:srgbClr val="1A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结论与建议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  <a:latin typeface="微软雅黑"/>
              </a:rPr>
              <a:t>核心结论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消费结构总体趋于合理，但超前消费、攀比消费问题不容忽视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对共同富裕理念认知较为表面，尚未内化为消费行为指导原则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976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A"/>
                </a:solidFill>
                <a:latin typeface="微软雅黑"/>
              </a:rPr>
              <a:t>共同富裕理念具有正向引导潜力，需系统教育引导加以激活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3A"/>
                </a:solidFill>
                <a:latin typeface="微软雅黑"/>
              </a:rPr>
              <a:t>对策建议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54864" cy="822960"/>
          </a:xfrm>
          <a:prstGeom prst="rect">
            <a:avLst/>
          </a:prstGeom>
          <a:solidFill>
            <a:srgbClr val="E86A2E"/>
          </a:solidFill>
          <a:ln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微软雅黑"/>
              </a:rPr>
              <a:t>融入思政课程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将共同富裕理念纳入高校思政教育，案例教学+专题讲座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54864" cy="82296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  <a:latin typeface="微软雅黑"/>
              </a:rPr>
              <a:t>金融素养教育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29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引导学生认识超前消费风险，培养量入为出的消费习惯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14800"/>
            <a:ext cx="54864" cy="822960"/>
          </a:xfrm>
          <a:prstGeom prst="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C040"/>
                </a:solidFill>
                <a:latin typeface="微软雅黑"/>
              </a:rPr>
              <a:t>校园消费文化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26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通过社团活动、校园媒体倡导绿色消费、理性消费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212079"/>
            <a:ext cx="54864" cy="82296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2120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微软雅黑"/>
              </a:rPr>
              <a:t>监测援助机制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6235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微软雅黑"/>
              </a:rPr>
              <a:t>建立消费行为监测机制，为有需要的学生提供援助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